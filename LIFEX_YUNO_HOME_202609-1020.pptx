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umehara/my-claude/test/templates/assets_daiken_cover_hou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6705295" cy="6858000"/>
          </a:xfrm>
          <a:prstGeom prst="rect">
            <a:avLst/>
          </a:prstGeom>
        </p:spPr>
      </p:pic>
      <p:pic>
        <p:nvPicPr>
          <p:cNvPr id="3" name="Image 1" descr="/Users/umehara/my-claude/test/templates/assets_lifex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77240"/>
            <a:ext cx="2377440" cy="55156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600" kern="0" dirty="0">
                <a:solidFill>
                  <a:srgbClr val="A8A8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ADVERTISING REPORT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731520" y="22860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広告成果レポート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731520" y="2926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＆改善提案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749808" y="3703320"/>
            <a:ext cx="822960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3931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YUNO HOME 様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31520" y="44348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9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 X｜株式会社YUNO HOME（011-01）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31520" y="49834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A8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対象期間　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2026年9月〜10月20日（8月比較）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8A8A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対象媒体　</a:t>
            </a:r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Google広告（8月はMeta広告）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31520" y="6172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C8C8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Gハウス 広告運用チーム　｜　2026.10.21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エグゼクティブサマリー｜9月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0" y="4572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9/1〜9/30配信／Meta 配信なし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15184" cy="1691640"/>
          </a:xfrm>
          <a:prstGeom prst="roundRect">
            <a:avLst>
              <a:gd name="adj" fmla="val 4865"/>
            </a:avLst>
          </a:prstGeom>
          <a:solidFill>
            <a:srgbClr val="EEF4F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481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広告費用（Google）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¥150,115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9808" y="24505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 ¥125,240（Meta）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2424" y="1234440"/>
            <a:ext cx="2615184" cy="1691640"/>
          </a:xfrm>
          <a:prstGeom prst="roundRect">
            <a:avLst>
              <a:gd name="adj" fmla="val 4865"/>
            </a:avLst>
          </a:prstGeom>
          <a:solidFill>
            <a:srgbClr val="EEF4FE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1481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クリック率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93592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1.59%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593592" y="24505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 1.18%（+0.41pt）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6208" y="1234440"/>
            <a:ext cx="2615184" cy="1691640"/>
          </a:xfrm>
          <a:prstGeom prst="roundRect">
            <a:avLst>
              <a:gd name="adj" fmla="val 4865"/>
            </a:avLst>
          </a:prstGeom>
          <a:solidFill>
            <a:srgbClr val="EEF4FE"/>
          </a:solidFill>
          <a:ln/>
        </p:spPr>
      </p:sp>
      <p:sp>
        <p:nvSpPr>
          <p:cNvPr id="13" name="Text 11"/>
          <p:cNvSpPr/>
          <p:nvPr/>
        </p:nvSpPr>
        <p:spPr>
          <a:xfrm>
            <a:off x="6437376" y="1481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クリック単価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37376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¥113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437376" y="24505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 ¥306（−63%）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79992" y="1234440"/>
            <a:ext cx="2615184" cy="1691640"/>
          </a:xfrm>
          <a:prstGeom prst="roundRect">
            <a:avLst>
              <a:gd name="adj" fmla="val 4865"/>
            </a:avLst>
          </a:prstGeom>
          <a:solidFill>
            <a:srgbClr val="EEF4FE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1481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獲得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81160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 4件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281160" y="24505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本部経由の送客 7件（p.10）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9月のポイント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21792" y="3703320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65760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9月はGoogleのみ。9/1〜9/20は旧アカウントの検索・P-MAX、9/21からSHO-SAN運用のP-MAXに切り替え。Metaは8月で終了。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" y="4251960"/>
            <a:ext cx="329184" cy="32918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420624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クリック単価は¥306→¥113と約1/3に下がり、クリックは409→1,327と約3.2倍。費用は+20%で、届く人数は大きく増えた。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" y="480060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4782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47548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広告の獲得4件（旧P-MAX 1件・SHO-SAN P-MAX 3件）、獲得単価¥37,529は8月Meta（¥41,747）と同水準。検索（¥14,945）は獲得0。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" y="5349240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5330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" y="530352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SHO-SANのP-MAXは9/21〜9/30の10日で¥72,316を配信。10月は貴社のご依頼により予算を減額して配信。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5897880"/>
            <a:ext cx="329184" cy="32918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5879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43000" y="585216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本部問い合わせからは資料請求7件を送客（9/1〜9/28）。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 X 広告パフォーマンスレポート｜YUNO HOME(011-01)｜2026年9月〜10月20日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エグゼクティブサマリー｜10月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0" y="4572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10/1〜10/20配信／Meta 配信なし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615184" cy="1691640"/>
          </a:xfrm>
          <a:prstGeom prst="roundRect">
            <a:avLst>
              <a:gd name="adj" fmla="val 4865"/>
            </a:avLst>
          </a:prstGeom>
          <a:solidFill>
            <a:srgbClr val="EEF4F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481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広告費用（Google）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¥29,091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9808" y="24505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9月 ¥150,115（ご依頼により減額）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2424" y="1234440"/>
            <a:ext cx="2615184" cy="1691640"/>
          </a:xfrm>
          <a:prstGeom prst="roundRect">
            <a:avLst>
              <a:gd name="adj" fmla="val 4865"/>
            </a:avLst>
          </a:prstGeom>
          <a:solidFill>
            <a:srgbClr val="EEF4FE"/>
          </a:solidFill>
          <a:ln/>
        </p:spPr>
      </p:sp>
      <p:sp>
        <p:nvSpPr>
          <p:cNvPr id="9" name="Text 7"/>
          <p:cNvSpPr/>
          <p:nvPr/>
        </p:nvSpPr>
        <p:spPr>
          <a:xfrm>
            <a:off x="3593592" y="1481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クリック率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93592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0.95%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3593592" y="24505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9月 1.59%（−0.64pt）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6208" y="1234440"/>
            <a:ext cx="2615184" cy="1691640"/>
          </a:xfrm>
          <a:prstGeom prst="roundRect">
            <a:avLst>
              <a:gd name="adj" fmla="val 4865"/>
            </a:avLst>
          </a:prstGeom>
          <a:solidFill>
            <a:srgbClr val="EEF4FE"/>
          </a:solidFill>
          <a:ln/>
        </p:spPr>
      </p:sp>
      <p:sp>
        <p:nvSpPr>
          <p:cNvPr id="13" name="Text 11"/>
          <p:cNvSpPr/>
          <p:nvPr/>
        </p:nvSpPr>
        <p:spPr>
          <a:xfrm>
            <a:off x="6437376" y="1481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クリック単価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37376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¥78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437376" y="24505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9月 ¥113（−31%）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79992" y="1234440"/>
            <a:ext cx="2615184" cy="1691640"/>
          </a:xfrm>
          <a:prstGeom prst="roundRect">
            <a:avLst>
              <a:gd name="adj" fmla="val 4865"/>
            </a:avLst>
          </a:prstGeom>
          <a:solidFill>
            <a:srgbClr val="EEF4FE"/>
          </a:solidFill>
          <a:ln/>
        </p:spPr>
      </p:sp>
      <p:sp>
        <p:nvSpPr>
          <p:cNvPr id="17" name="Text 15"/>
          <p:cNvSpPr/>
          <p:nvPr/>
        </p:nvSpPr>
        <p:spPr>
          <a:xfrm>
            <a:off x="9281160" y="148132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獲得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81160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 0件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281160" y="245059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本部経由の送客 4件（p.10）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10月のポイント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21792" y="3703320"/>
            <a:ext cx="329184" cy="3291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43000" y="365760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最大の課題はクリック率。9月1.59%→10月0.95%に低下。動画視聴などクリック以外の反応が6,261回（9月934回）に増えており、検索以外の面への配信が増えた可能性がある。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" y="4251960"/>
            <a:ext cx="329184" cy="32918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" y="4233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" y="420624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LPからアプリへ進むのは13.7%で、LIFE X全体（13.3%）と同じ水準。LPを見た人の8割以上がアプリまで進んでいない。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" y="480060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4782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！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475488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広告の獲得は0件。ただしクリック374件に他加盟店平均の獲得率0.24%を当てても約1件で、まだ判断できる件数ではない。本部経由の送客は4件。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" y="5349240"/>
            <a:ext cx="329184" cy="32918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" y="5330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43000" y="530352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サイトの導線は強い。アプリに来た人が来場予約ページへ進む割合は27.1%で、LIFE X全体（13.6%）の約2倍。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" y="589788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" y="5879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43000" y="5852160"/>
            <a:ext cx="10424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予算は貴社のご依頼で減額中のため、今の予算内で効率を上げる。改善の柱は ①P-MAXの配信面を確認する ②LPで「来場予約」を目立たせる、の2つ。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 X 広告パフォーマンスレポート｜YUNO HOME(011-01)｜2026年9月〜10月20日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8月・9月・10月 比較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0" y="4572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8月＝Meta／9・10月＝Google、10月は10/1〜10/20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167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600200"/>
                <a:gridCol w="1691640"/>
                <a:gridCol w="1783080"/>
                <a:gridCol w="1463040"/>
                <a:gridCol w="20391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指標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8月（Meta）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9月（Google）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10月（Google）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9月→10月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他加盟店平均（10月）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広告費用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¥125,240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¥150,115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¥29,091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−81%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1日あたり費用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¥5,004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¥1,455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961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−71%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表示回数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34,709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83,662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39,476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−53%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表示単価（CPM）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¥3,608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¥1,794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¥737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−59%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¥1,169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クリック数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409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1,327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374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−72%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クリック率（CTR）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1.18%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1.59%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0.95%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961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−0.64pt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0.91%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クリック単価（CPC）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¥306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¥113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¥78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−31%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¥128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獲得件数 ※1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F961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−4件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獲得率（獲得/クリック）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0.73%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0.30%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0.00%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0.24%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獲得単価（CPA）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¥41,747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¥37,529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¥52,896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本部経由の送客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4件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※1 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8月＝Looker Studio「Meta広告レポート_LIFEX」の獲得件数、9・10月＝Google広告管理画面のコンバージョン。本部経由の送客は経路を問わない件数のため、広告の獲得と一部重なることがある。
</a:t>
            </a:r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9月＝旧アカウントの検索・P-MAX（9/1〜9/20）＋SHO-SAN運用P-MAX（9/21〜9/30）の合計。他加盟店平均＝同じアカウントの加盟店P-MAX 19本の10/1〜20合計値。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 X 広告パフォーマンスレポート｜YUNO HOME(011-01)｜2026年9月〜10月20日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LP〜フォームの流れ（GA4）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0" y="4572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9/21〜10/20・ユーザー数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966960" y="10058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 X全体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LPを見た人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931920" y="1335024"/>
            <a:ext cx="3840480" cy="39319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0" y="12801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703人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9339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アプリ（予約・資料・プラン）へ進んだ人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931920" y="2048256"/>
            <a:ext cx="524447" cy="393192"/>
          </a:xfrm>
          <a:prstGeom prst="rect">
            <a:avLst/>
          </a:prstGeom>
          <a:solidFill>
            <a:srgbClr val="2A3575"/>
          </a:solidFill>
          <a:ln/>
        </p:spPr>
      </p:sp>
      <p:sp>
        <p:nvSpPr>
          <p:cNvPr id="10" name="Text 8"/>
          <p:cNvSpPr/>
          <p:nvPr/>
        </p:nvSpPr>
        <p:spPr>
          <a:xfrm>
            <a:off x="4547807" y="199339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96人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62207" y="199339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LPの13.7%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966960" y="19933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13.3%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70662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└ プラン確認を見た人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931920" y="2761488"/>
            <a:ext cx="398798" cy="39319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4422158" y="270662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73人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36558" y="2706624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アプリ訪問の76.0%・1人平均13.1ページ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966960" y="270662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83.3%・9.2ページ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4198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└ 来場予約ページへ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31920" y="3474720"/>
            <a:ext cx="142038" cy="393192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0" name="Text 18"/>
          <p:cNvSpPr/>
          <p:nvPr/>
        </p:nvSpPr>
        <p:spPr>
          <a:xfrm>
            <a:off x="4165398" y="341985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26人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79798" y="3419856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アプリ訪問の27.1%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966960" y="341985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13.6%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1330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└ 資料請求ページへ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931920" y="4187952"/>
            <a:ext cx="73152" cy="39319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/>
          <p:nvPr/>
        </p:nvSpPr>
        <p:spPr>
          <a:xfrm>
            <a:off x="4096512" y="41330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9人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10912" y="4133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アプリ訪問の9.4%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66960" y="413308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9.9%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11091672" cy="1325880"/>
          </a:xfrm>
          <a:prstGeom prst="roundRect">
            <a:avLst>
              <a:gd name="adj" fmla="val 6207"/>
            </a:avLst>
          </a:prstGeom>
          <a:solidFill>
            <a:srgbClr val="F0F8F4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0292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強みと課題：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アプリに来た人が来場予約ページへ進む割合は27.1%で、LIFE X全体の約2倍。プランも1人平均13ページと全体（9ページ）より深く見られている。一方、LPからアプリへ進むのは13.7%で全体と同じ水準＝LPを見た人の8割以上はアプリまで進んでいない。強い「来場予約」への流れを、LPの段階から見せられると伸ばせる。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48640" y="6291072"/>
            <a:ext cx="11091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GA4「LIFE X_BtoB」探索。LP＝URLに lp01/011-01 を含むページ、アプリ＝URLに code=011-01 を含むページ。全体＝全加盟店（YUNO HOME含む）。流入元は広告以外も含む。予約・資料請求は重複あり。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 X 広告パフォーマンスレポート｜YUNO HOME(011-01)｜2026年9月〜10月20日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ボトルネックの特定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0" y="4572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10月 Google P-MAX／GA4は9/21〜10/20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1109167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554480"/>
                <a:gridCol w="2514600"/>
                <a:gridCol w="1920240"/>
                <a:gridCol w="1993392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段階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YUNO HOME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比べる相手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差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判定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① 配信量（1日あたり費用）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¥1,455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¥7,232（9月後半）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約1/5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B728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 ご依頼で減額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② 表示単価（CPM）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¥737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¥1,169（他加盟店）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−37%（安い）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 問題なし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③ クリック率（CTR）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0.95%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0.91%（他加盟店）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A33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ほぼ同じ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6167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× 最大の課題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④ LP → アプリ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13.7%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13.3%（LIFE X全体）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A33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ほぼ同じ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8A33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 2番目の課題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⑤ アプリ → 来場予約ページ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27.1%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13.6%（LIFE X全体）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約2倍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 強み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8620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DF1F1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402336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9616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最大の課題：③ クリック率（配信面の変化）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ック率は9月1.59%→10月0.95%。クリック以外の反応（動画視聴など）は934回→6,261回と約7倍で、検索以外（YouTube・ディスプレイ等）に配信が寄った可能性がある。チャネル別の内訳で確認したうえで、検索テーマ（キーワードの手がかり）の追加を検討する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199632" y="388620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BF3E2"/>
          </a:solidFill>
          <a:ln/>
        </p:spPr>
      </p:sp>
      <p:sp>
        <p:nvSpPr>
          <p:cNvPr id="8" name="Text 5"/>
          <p:cNvSpPr/>
          <p:nvPr/>
        </p:nvSpPr>
        <p:spPr>
          <a:xfrm>
            <a:off x="6428232" y="402336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2番目の課題：④ LP → アプリ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LPからアプリへ進むのは13.7%で、LIFE X全体（13.3%）と同じ水準＝LPを見た人の8割以上はアプリまで進んでいない。アプリ→来場予約ページは27.1%と強いので、LPの段階で「来場予約」を見せられれば来場予約を伸ばせる。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 X 広告パフォーマンスレポート｜YUNO HOME(011-01)｜2026年9月〜10月20日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キャンペーン別の内訳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0" y="4572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 Meta／9月・10月 Google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1234440"/>
                <a:gridCol w="1051560"/>
                <a:gridCol w="1005840"/>
                <a:gridCol w="914400"/>
                <a:gridCol w="868680"/>
                <a:gridCol w="868680"/>
                <a:gridCol w="777240"/>
                <a:gridCol w="1353312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キャンペーン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配信期間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費用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表示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クリック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CTR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CPC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獲得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獲得単価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Meta（旧アカウント）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8/1〜8/31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¥125,240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34,709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409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1.18%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¥306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¥41,747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検索（旧）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9/1〜9/20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¥14,945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452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81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17.92%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¥185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P-MAX（旧）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9/1〜9/20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¥62,854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56,087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696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1.24%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¥90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¥62,854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P-MAX（SHO-SAN運用）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9/21〜9/30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¥72,316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27,123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550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2.03%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¥131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¥24,105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P-MAX（SHO-SAN運用）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10/1〜10/20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¥29,091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39,476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374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0.95%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¥78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－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77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SHO-SAN P-MAX の通し予算（9/16〜10/31：¥138,000）の消化状況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4389120"/>
            <a:ext cx="11091672" cy="41148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4389120"/>
            <a:ext cx="5812358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5"/>
          <p:cNvSpPr/>
          <p:nvPr/>
        </p:nvSpPr>
        <p:spPr>
          <a:xfrm>
            <a:off x="6360998" y="4389120"/>
            <a:ext cx="2338173" cy="4114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389120"/>
            <a:ext cx="56294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9/21〜30（10日）¥72,316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52438" y="4389120"/>
            <a:ext cx="261249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10/1〜20（20日）¥29,091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064930" y="43891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残り ¥36,593（10/21〜31）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48640" y="48920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10/20時点で通し予算の73%を消化。10月は貴社のご依頼により予算を減額して配信しているため、1日あたりの配信量は9月後半より小さい。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獲得＝8月はLooker Studioの獲得件数、9・10月はGoogle広告管理画面のコンバージョン。旧アカウントのキャンペーンは9/21以降一時停止、8月の配信はなし。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 X 広告パフォーマンスレポート｜YUNO HOME(011-01)｜2026年9月〜10月20日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改善提案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0" y="4572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効果の大きい順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097280"/>
            <a:ext cx="11091672" cy="1115568"/>
          </a:xfrm>
          <a:prstGeom prst="roundRect">
            <a:avLst>
              <a:gd name="adj" fmla="val 5882"/>
            </a:avLst>
          </a:prstGeom>
          <a:solidFill>
            <a:srgbClr val="FBFCFE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316736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31673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最優先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691640" y="12801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P-MAXの配信面を確認する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166420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クリック率1.59%→0.95%、クリック以外の反応が約7倍。検索以外に寄った可能性。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35040" y="12801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チャネル別（検索・YouTube・ディスプレイ等）の費用とクリックを確認。検索テーマに「施工エリアの地名＋注文住宅」などの語句を追加し、検索面での配信を増やす。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04872"/>
            <a:ext cx="11091672" cy="1115568"/>
          </a:xfrm>
          <a:prstGeom prst="roundRect">
            <a:avLst>
              <a:gd name="adj" fmla="val 5882"/>
            </a:avLst>
          </a:prstGeom>
          <a:solidFill>
            <a:srgbClr val="FBFCFE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624328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62432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91640" y="258775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LPで「来場予約」を目立たせる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2971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アプリ→来場予約ページが27.1%（全体の約2倍）なのに、LP→アプリは13.7%で全体並み。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35040" y="2587752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LPのファーストビューとページ下部に「来場予約」ボタンを置き、スマホでは画面下に固定表示する。LIFE X共通の仕組みなので本部と相談。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712464"/>
            <a:ext cx="11091672" cy="1115568"/>
          </a:xfrm>
          <a:prstGeom prst="roundRect">
            <a:avLst>
              <a:gd name="adj" fmla="val 5882"/>
            </a:avLst>
          </a:prstGeom>
          <a:solidFill>
            <a:srgbClr val="FBFCFE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931920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93192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691640" y="38953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本部送客分のその後を確認する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91640" y="42793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9/1〜10/20で本部経由の資料請求11件。広告の獲得と合わせると反響は出ている。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35040" y="389534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送客11件（9/1〜10/20）の来場・商談の状況を貴社で確認いただき、来場につながりやすい経路に予算を寄せる判断材料にする。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020056"/>
            <a:ext cx="11091672" cy="1115568"/>
          </a:xfrm>
          <a:prstGeom prst="roundRect">
            <a:avLst>
              <a:gd name="adj" fmla="val 5882"/>
            </a:avLst>
          </a:prstGeom>
          <a:solidFill>
            <a:srgbClr val="FBFCFE"/>
          </a:solidFill>
          <a:ln w="12700">
            <a:solidFill>
              <a:srgbClr val="D9E2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5239512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85800" y="523951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通常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691640" y="52029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媒体の組み合わせを検討する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691640" y="5586984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8月Meta（獲得単価¥41,747）と9月Google（¥37,529）は同水準。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35040" y="520293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今の予算でGoogleの獲得が伸びない場合は、Metaへの切り替えや併用を選択肢に。まずは①②の効果を11月前半で見る。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 X 広告パフォーマンスレポート｜YUNO HOME(011-01)｜2026年9月〜10月20日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ネクストアクション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2A3575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298448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E8A33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試算：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LP→アプリの割合が13.7%→18%（LIFE X内で出ている水準）になれば、アプリは96人→約127人、来場予約ページは26人→約34人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9/21〜10/20の実績に、来場予約ページへ進む割合（27.1%）がそのまま続くと仮定した参考値。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90088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880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P-MAXのチャネル別内訳を確認し、検索テーマを追加する　</a:t>
            </a:r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［今週］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検索面の配信を増やし、クリック率の戻りを1週間で見る。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71600" y="395935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LPの「来場予約」ボタンの置き方を本部と相談する　</a:t>
            </a:r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［10月中］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 X共通の仕組みなので全加盟店に関わる。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148072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5129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5038344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本部送客11件（9/1〜10/20）の来場・商談状況を共有いただく　</a:t>
            </a:r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［次回MTG］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次回MTGで、経路ごとの来場率を見て予算配分を決める。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199632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出典：8月＝Looker Studio「【Gハウス様】Meta広告レポート_LIFEX」／9・10月＝Google広告 管理画面／GA4「LIFE X_BtoB」（2026/10/21取得）。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 X 広告パフォーマンスレポート｜YUNO HOME(011-01)｜2026年9月〜10月20日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備考：加盟店集客と本部集客の件数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0" y="45720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2026年8月〜10月20日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704088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914400"/>
                <a:gridCol w="914400"/>
                <a:gridCol w="1280160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区分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（〜10/20）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1E2761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加盟店集客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広告経由の獲得（8月 Meta／9・10月 Google）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3件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4件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0件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7件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本部集客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A6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本部問い合わせからの送客（すべて資料請求）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91440" marT="0" marB="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1件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7件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4件</a:t>
                      </a:r>
                      <a:endParaRPr lang="en-US" sz="2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12件</a:t>
                      </a:r>
                      <a:endParaRPr lang="en-US" sz="2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40480"/>
            <a:ext cx="7040880" cy="1874520"/>
          </a:xfrm>
          <a:prstGeom prst="roundRect">
            <a:avLst>
              <a:gd name="adj" fmla="val 4390"/>
            </a:avLst>
          </a:prstGeom>
          <a:solidFill>
            <a:srgbClr val="F0F8F4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3950208"/>
            <a:ext cx="6629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数え方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・加盟店集客：広告の管理画面で「獲得」となった件数（9月は旧P-MAX 1件＋SHO-SAN運用 3件）。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・本部集客：本部に届いた問い合わせのうち、YUNO HOME様の担当として送客した件数（右表）。</a:t>
            </a:r>
            <a:endParaRPr lang="en-US" sz="1300" dirty="0"/>
          </a:p>
          <a:p>
            <a:pPr indent="0" marL="0">
              <a:lnSpc>
                <a:spcPct val="112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F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・本部集客は経路を問わない受付件数のため、広告経由の獲得と一部重なることがあり、2つを足した数が実際の反響数になるとは限りません。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863840" y="914400"/>
            <a:ext cx="3776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本部集客の内訳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188720"/>
          <a:ext cx="37764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005840"/>
                <a:gridCol w="1097280"/>
                <a:gridCol w="11247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No.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受信日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種別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建築予定地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8/15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資料請求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未記入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9/1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資料請求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埼玉県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9/5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資料請求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埼玉県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9/6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資料請求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未記入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9/19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資料請求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未記入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9/23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資料請求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埼玉県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7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9/25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資料請求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埼玉県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9/28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資料請求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埼玉県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9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10/4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資料請求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埼玉県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10/6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資料請求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埼玉県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10/12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資料請求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埼玉県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12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10/13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資料請求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埼玉県</a:t>
                      </a:r>
                      <a:endParaRPr lang="en-US" sz="10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E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5833872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出典：加盟店集客＝8月 Looker Studio「【Gハウス様】Meta広告レポート_LIFEX」／9・10月 Google広告 管理画面。本部集客＝本部問い合わせリスト（2026/10/21時点）で担当加盟店が「株式会社YUNO HOME」、判定が「確定」の行。建築予定地は都道府県のみ表示し、お客様の個人情報は掲載していません。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48640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LIFE X 広告パフォーマンスレポート｜YUNO HOME(011-01)｜2026年9月〜10月20日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43000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2026-10-21T04:16:56Z</dcterms:created>
  <dcterms:modified xsi:type="dcterms:W3CDTF">2026-10-21T04:16:56Z</dcterms:modified>
</cp:coreProperties>
</file>